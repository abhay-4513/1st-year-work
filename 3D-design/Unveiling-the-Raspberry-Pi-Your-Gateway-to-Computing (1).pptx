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Montserrat"/>
      <p:regular r:id="rId13"/>
    </p:embeddedFont>
    <p:embeddedFont>
      <p:font typeface="Montserrat"/>
      <p:regular r:id="rId14"/>
    </p:embeddedFont>
    <p:embeddedFont>
      <p:font typeface="Montserrat"/>
      <p:regular r:id="rId15"/>
    </p:embeddedFont>
    <p:embeddedFont>
      <p:font typeface="Montserrat"/>
      <p:regular r:id="rId16"/>
    </p:embeddedFont>
    <p:embeddedFont>
      <p:font typeface="Source Sans 3"/>
      <p:regular r:id="rId17"/>
    </p:embeddedFont>
    <p:embeddedFont>
      <p:font typeface="Source Sans 3"/>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slideLayout" Target="../slideLayouts/slideLayout6.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198" y="2507575"/>
            <a:ext cx="7416403" cy="2103834"/>
          </a:xfrm>
          <a:prstGeom prst="rect">
            <a:avLst/>
          </a:prstGeom>
          <a:noFill/>
          <a:ln/>
        </p:spPr>
        <p:txBody>
          <a:bodyPr wrap="square" lIns="0" tIns="0" rIns="0" bIns="0" rtlCol="0" anchor="t"/>
          <a:lstStyle/>
          <a:p>
            <a:pPr algn="l" indent="0" marL="0">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Unveiling the Raspberry Pi: Your Gateway to Computing</a:t>
            </a:r>
            <a:endParaRPr lang="en-US" sz="4400" dirty="0"/>
          </a:p>
        </p:txBody>
      </p:sp>
      <p:sp>
        <p:nvSpPr>
          <p:cNvPr id="4" name="Text 1"/>
          <p:cNvSpPr/>
          <p:nvPr/>
        </p:nvSpPr>
        <p:spPr>
          <a:xfrm>
            <a:off x="6350198" y="4981575"/>
            <a:ext cx="7416403" cy="740331"/>
          </a:xfrm>
          <a:prstGeom prst="rect">
            <a:avLst/>
          </a:prstGeom>
          <a:noFill/>
          <a:ln/>
        </p:spPr>
        <p:txBody>
          <a:bodyPr wrap="squar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Discover how this credit-card-sized computer is revolutionizing technology education, DIY projects, and innovation worldwide.</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01477" y="1249204"/>
            <a:ext cx="7913727" cy="716756"/>
          </a:xfrm>
          <a:prstGeom prst="rect">
            <a:avLst/>
          </a:prstGeom>
          <a:noFill/>
          <a:ln/>
        </p:spPr>
        <p:txBody>
          <a:bodyPr wrap="square" lIns="0" tIns="0" rIns="0" bIns="0" rtlCol="0" anchor="t"/>
          <a:lstStyle/>
          <a:p>
            <a:pPr algn="l" indent="0" marL="0">
              <a:lnSpc>
                <a:spcPts val="2800"/>
              </a:lnSpc>
              <a:buNone/>
            </a:pPr>
            <a:r>
              <a:rPr lang="en-US" sz="2250" b="1" dirty="0">
                <a:solidFill>
                  <a:srgbClr val="FFFFFF"/>
                </a:solidFill>
                <a:latin typeface="Montserrat Bold" pitchFamily="34" charset="0"/>
                <a:ea typeface="Montserrat Bold" pitchFamily="34" charset="-122"/>
                <a:cs typeface="Montserrat Bold" pitchFamily="34" charset="-120"/>
              </a:rPr>
              <a:t>What is a Raspberry Pi? A Powerful, Pint-Sized Computer</a:t>
            </a:r>
            <a:endParaRPr lang="en-US" sz="2250" dirty="0"/>
          </a:p>
        </p:txBody>
      </p:sp>
      <p:sp>
        <p:nvSpPr>
          <p:cNvPr id="4" name="Text 1"/>
          <p:cNvSpPr/>
          <p:nvPr/>
        </p:nvSpPr>
        <p:spPr>
          <a:xfrm>
            <a:off x="6101477" y="2062639"/>
            <a:ext cx="7913727" cy="428982"/>
          </a:xfrm>
          <a:prstGeom prst="rect">
            <a:avLst/>
          </a:prstGeom>
          <a:noFill/>
          <a:ln/>
        </p:spPr>
        <p:txBody>
          <a:bodyPr wrap="square" lIns="0" tIns="0" rIns="0" bIns="0" rtlCol="0" anchor="t"/>
          <a:lstStyle/>
          <a:p>
            <a:pPr algn="l" indent="0" marL="0">
              <a:lnSpc>
                <a:spcPts val="1100"/>
              </a:lnSpc>
              <a:buNone/>
            </a:pPr>
            <a:r>
              <a:rPr lang="en-US" sz="950" dirty="0">
                <a:solidFill>
                  <a:srgbClr val="E2E6E9"/>
                </a:solidFill>
                <a:latin typeface="Source Sans 3" pitchFamily="34" charset="0"/>
                <a:ea typeface="Source Sans 3" pitchFamily="34" charset="-122"/>
                <a:cs typeface="Source Sans 3" pitchFamily="34" charset="-120"/>
              </a:rPr>
              <a:t>The Raspberry Pi is a series of small, affordable single-board computers developed by the Raspberry Pi Foundation. Despite its compact size—measuring just 85.60mm × 56.50mm—these devices pack impressive computing power, making them perfect for learning programming, building projects, and exploring technology.</a:t>
            </a:r>
            <a:endParaRPr lang="en-US" sz="950" dirty="0"/>
          </a:p>
        </p:txBody>
      </p:sp>
      <p:sp>
        <p:nvSpPr>
          <p:cNvPr id="5" name="Shape 2"/>
          <p:cNvSpPr/>
          <p:nvPr/>
        </p:nvSpPr>
        <p:spPr>
          <a:xfrm>
            <a:off x="6101477" y="2564130"/>
            <a:ext cx="7913727" cy="1055727"/>
          </a:xfrm>
          <a:prstGeom prst="roundRect">
            <a:avLst>
              <a:gd name="adj" fmla="val 1793"/>
            </a:avLst>
          </a:prstGeom>
          <a:solidFill>
            <a:srgbClr val="303132"/>
          </a:solidFill>
          <a:ln/>
        </p:spPr>
      </p:sp>
      <p:sp>
        <p:nvSpPr>
          <p:cNvPr id="6" name="Shape 3"/>
          <p:cNvSpPr/>
          <p:nvPr/>
        </p:nvSpPr>
        <p:spPr>
          <a:xfrm>
            <a:off x="6227564" y="2690217"/>
            <a:ext cx="378381" cy="378381"/>
          </a:xfrm>
          <a:prstGeom prst="roundRect">
            <a:avLst>
              <a:gd name="adj" fmla="val 24163702"/>
            </a:avLst>
          </a:prstGeom>
          <a:solidFill>
            <a:srgbClr val="FFFFFF"/>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1625" y="2794278"/>
            <a:ext cx="170259" cy="170259"/>
          </a:xfrm>
          <a:prstGeom prst="rect">
            <a:avLst/>
          </a:prstGeom>
        </p:spPr>
      </p:pic>
      <p:sp>
        <p:nvSpPr>
          <p:cNvPr id="8" name="Text 4"/>
          <p:cNvSpPr/>
          <p:nvPr/>
        </p:nvSpPr>
        <p:spPr>
          <a:xfrm>
            <a:off x="6227564" y="3133011"/>
            <a:ext cx="1433632" cy="179189"/>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Processor Power</a:t>
            </a:r>
            <a:endParaRPr lang="en-US" sz="1100" dirty="0"/>
          </a:p>
        </p:txBody>
      </p:sp>
      <p:sp>
        <p:nvSpPr>
          <p:cNvPr id="9" name="Text 5"/>
          <p:cNvSpPr/>
          <p:nvPr/>
        </p:nvSpPr>
        <p:spPr>
          <a:xfrm>
            <a:off x="6227564" y="3350776"/>
            <a:ext cx="7661553" cy="142994"/>
          </a:xfrm>
          <a:prstGeom prst="rect">
            <a:avLst/>
          </a:prstGeom>
          <a:noFill/>
          <a:ln/>
        </p:spPr>
        <p:txBody>
          <a:bodyPr wrap="none" lIns="0" tIns="0" rIns="0" bIns="0" rtlCol="0" anchor="t"/>
          <a:lstStyle/>
          <a:p>
            <a:pPr algn="l" indent="0" marL="0">
              <a:lnSpc>
                <a:spcPts val="1100"/>
              </a:lnSpc>
              <a:buNone/>
            </a:pPr>
            <a:r>
              <a:rPr lang="en-US" sz="950" dirty="0">
                <a:solidFill>
                  <a:srgbClr val="E2E6E9"/>
                </a:solidFill>
                <a:latin typeface="Source Sans 3" pitchFamily="34" charset="0"/>
                <a:ea typeface="Source Sans 3" pitchFamily="34" charset="-122"/>
                <a:cs typeface="Source Sans 3" pitchFamily="34" charset="-120"/>
              </a:rPr>
              <a:t>Quad-core CPUs running at speeds up to 1.8GHz</a:t>
            </a:r>
            <a:endParaRPr lang="en-US" sz="950" dirty="0"/>
          </a:p>
        </p:txBody>
      </p:sp>
      <p:sp>
        <p:nvSpPr>
          <p:cNvPr id="10" name="Shape 6"/>
          <p:cNvSpPr/>
          <p:nvPr/>
        </p:nvSpPr>
        <p:spPr>
          <a:xfrm>
            <a:off x="6101477" y="3684270"/>
            <a:ext cx="7913727" cy="1055727"/>
          </a:xfrm>
          <a:prstGeom prst="roundRect">
            <a:avLst>
              <a:gd name="adj" fmla="val 1793"/>
            </a:avLst>
          </a:prstGeom>
          <a:solidFill>
            <a:srgbClr val="303132"/>
          </a:solidFill>
          <a:ln/>
        </p:spPr>
      </p:sp>
      <p:sp>
        <p:nvSpPr>
          <p:cNvPr id="11" name="Shape 7"/>
          <p:cNvSpPr/>
          <p:nvPr/>
        </p:nvSpPr>
        <p:spPr>
          <a:xfrm>
            <a:off x="6227564" y="3810357"/>
            <a:ext cx="378381" cy="378381"/>
          </a:xfrm>
          <a:prstGeom prst="roundRect">
            <a:avLst>
              <a:gd name="adj" fmla="val 24163702"/>
            </a:avLst>
          </a:prstGeom>
          <a:solidFill>
            <a:srgbClr val="FFFFFF"/>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1625" y="3914418"/>
            <a:ext cx="170259" cy="170259"/>
          </a:xfrm>
          <a:prstGeom prst="rect">
            <a:avLst/>
          </a:prstGeom>
        </p:spPr>
      </p:pic>
      <p:sp>
        <p:nvSpPr>
          <p:cNvPr id="13" name="Text 8"/>
          <p:cNvSpPr/>
          <p:nvPr/>
        </p:nvSpPr>
        <p:spPr>
          <a:xfrm>
            <a:off x="6227564" y="4253151"/>
            <a:ext cx="1433632" cy="179189"/>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Memory Options</a:t>
            </a:r>
            <a:endParaRPr lang="en-US" sz="1100" dirty="0"/>
          </a:p>
        </p:txBody>
      </p:sp>
      <p:sp>
        <p:nvSpPr>
          <p:cNvPr id="14" name="Text 9"/>
          <p:cNvSpPr/>
          <p:nvPr/>
        </p:nvSpPr>
        <p:spPr>
          <a:xfrm>
            <a:off x="6227564" y="4470916"/>
            <a:ext cx="7661553" cy="142994"/>
          </a:xfrm>
          <a:prstGeom prst="rect">
            <a:avLst/>
          </a:prstGeom>
          <a:noFill/>
          <a:ln/>
        </p:spPr>
        <p:txBody>
          <a:bodyPr wrap="none" lIns="0" tIns="0" rIns="0" bIns="0" rtlCol="0" anchor="t"/>
          <a:lstStyle/>
          <a:p>
            <a:pPr algn="l" indent="0" marL="0">
              <a:lnSpc>
                <a:spcPts val="1100"/>
              </a:lnSpc>
              <a:buNone/>
            </a:pPr>
            <a:r>
              <a:rPr lang="en-US" sz="950" dirty="0">
                <a:solidFill>
                  <a:srgbClr val="E2E6E9"/>
                </a:solidFill>
                <a:latin typeface="Source Sans 3" pitchFamily="34" charset="0"/>
                <a:ea typeface="Source Sans 3" pitchFamily="34" charset="-122"/>
                <a:cs typeface="Source Sans 3" pitchFamily="34" charset="-120"/>
              </a:rPr>
              <a:t>From 1GB to 8GB RAM depending on model</a:t>
            </a:r>
            <a:endParaRPr lang="en-US" sz="950" dirty="0"/>
          </a:p>
        </p:txBody>
      </p:sp>
      <p:sp>
        <p:nvSpPr>
          <p:cNvPr id="15" name="Shape 10"/>
          <p:cNvSpPr/>
          <p:nvPr/>
        </p:nvSpPr>
        <p:spPr>
          <a:xfrm>
            <a:off x="6101477" y="4804410"/>
            <a:ext cx="7913727" cy="1055727"/>
          </a:xfrm>
          <a:prstGeom prst="roundRect">
            <a:avLst>
              <a:gd name="adj" fmla="val 1793"/>
            </a:avLst>
          </a:prstGeom>
          <a:solidFill>
            <a:srgbClr val="303132"/>
          </a:solidFill>
          <a:ln/>
        </p:spPr>
      </p:sp>
      <p:sp>
        <p:nvSpPr>
          <p:cNvPr id="16" name="Shape 11"/>
          <p:cNvSpPr/>
          <p:nvPr/>
        </p:nvSpPr>
        <p:spPr>
          <a:xfrm>
            <a:off x="6227564" y="4930497"/>
            <a:ext cx="378381" cy="378381"/>
          </a:xfrm>
          <a:prstGeom prst="roundRect">
            <a:avLst>
              <a:gd name="adj" fmla="val 24163702"/>
            </a:avLst>
          </a:prstGeom>
          <a:solidFill>
            <a:srgbClr val="FFFFFF"/>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31625" y="5034558"/>
            <a:ext cx="170259" cy="170259"/>
          </a:xfrm>
          <a:prstGeom prst="rect">
            <a:avLst/>
          </a:prstGeom>
        </p:spPr>
      </p:pic>
      <p:sp>
        <p:nvSpPr>
          <p:cNvPr id="18" name="Text 12"/>
          <p:cNvSpPr/>
          <p:nvPr/>
        </p:nvSpPr>
        <p:spPr>
          <a:xfrm>
            <a:off x="6227564" y="5373291"/>
            <a:ext cx="1433632" cy="179189"/>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Connectivity</a:t>
            </a:r>
            <a:endParaRPr lang="en-US" sz="1100" dirty="0"/>
          </a:p>
        </p:txBody>
      </p:sp>
      <p:sp>
        <p:nvSpPr>
          <p:cNvPr id="19" name="Text 13"/>
          <p:cNvSpPr/>
          <p:nvPr/>
        </p:nvSpPr>
        <p:spPr>
          <a:xfrm>
            <a:off x="6227564" y="5591056"/>
            <a:ext cx="7661553" cy="142994"/>
          </a:xfrm>
          <a:prstGeom prst="rect">
            <a:avLst/>
          </a:prstGeom>
          <a:noFill/>
          <a:ln/>
        </p:spPr>
        <p:txBody>
          <a:bodyPr wrap="none" lIns="0" tIns="0" rIns="0" bIns="0" rtlCol="0" anchor="t"/>
          <a:lstStyle/>
          <a:p>
            <a:pPr algn="l" indent="0" marL="0">
              <a:lnSpc>
                <a:spcPts val="1100"/>
              </a:lnSpc>
              <a:buNone/>
            </a:pPr>
            <a:r>
              <a:rPr lang="en-US" sz="950" dirty="0">
                <a:solidFill>
                  <a:srgbClr val="E2E6E9"/>
                </a:solidFill>
                <a:latin typeface="Source Sans 3" pitchFamily="34" charset="0"/>
                <a:ea typeface="Source Sans 3" pitchFamily="34" charset="-122"/>
                <a:cs typeface="Source Sans 3" pitchFamily="34" charset="-120"/>
              </a:rPr>
              <a:t>Multiple USB ports, HDMI, Ethernet, and GPIO pins</a:t>
            </a:r>
            <a:endParaRPr lang="en-US" sz="950" dirty="0"/>
          </a:p>
        </p:txBody>
      </p:sp>
      <p:sp>
        <p:nvSpPr>
          <p:cNvPr id="20" name="Shape 14"/>
          <p:cNvSpPr/>
          <p:nvPr/>
        </p:nvSpPr>
        <p:spPr>
          <a:xfrm>
            <a:off x="6101477" y="5924550"/>
            <a:ext cx="7913727" cy="1055727"/>
          </a:xfrm>
          <a:prstGeom prst="roundRect">
            <a:avLst>
              <a:gd name="adj" fmla="val 1793"/>
            </a:avLst>
          </a:prstGeom>
          <a:solidFill>
            <a:srgbClr val="303132"/>
          </a:solidFill>
          <a:ln/>
        </p:spPr>
      </p:sp>
      <p:sp>
        <p:nvSpPr>
          <p:cNvPr id="21" name="Shape 15"/>
          <p:cNvSpPr/>
          <p:nvPr/>
        </p:nvSpPr>
        <p:spPr>
          <a:xfrm>
            <a:off x="6227564" y="6050637"/>
            <a:ext cx="378381" cy="378381"/>
          </a:xfrm>
          <a:prstGeom prst="roundRect">
            <a:avLst>
              <a:gd name="adj" fmla="val 24163702"/>
            </a:avLst>
          </a:prstGeom>
          <a:solidFill>
            <a:srgbClr val="FFFFFF"/>
          </a:solidFill>
          <a:ln/>
        </p:spPr>
      </p:sp>
      <p:pic>
        <p:nvPicPr>
          <p:cNvPr id="2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31625" y="6154698"/>
            <a:ext cx="170259" cy="170259"/>
          </a:xfrm>
          <a:prstGeom prst="rect">
            <a:avLst/>
          </a:prstGeom>
        </p:spPr>
      </p:pic>
      <p:sp>
        <p:nvSpPr>
          <p:cNvPr id="23" name="Text 16"/>
          <p:cNvSpPr/>
          <p:nvPr/>
        </p:nvSpPr>
        <p:spPr>
          <a:xfrm>
            <a:off x="6227564" y="6493431"/>
            <a:ext cx="1433632" cy="179189"/>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Affordable Price</a:t>
            </a:r>
            <a:endParaRPr lang="en-US" sz="1100" dirty="0"/>
          </a:p>
        </p:txBody>
      </p:sp>
      <p:sp>
        <p:nvSpPr>
          <p:cNvPr id="24" name="Text 17"/>
          <p:cNvSpPr/>
          <p:nvPr/>
        </p:nvSpPr>
        <p:spPr>
          <a:xfrm>
            <a:off x="6227564" y="6711196"/>
            <a:ext cx="7661553" cy="142994"/>
          </a:xfrm>
          <a:prstGeom prst="rect">
            <a:avLst/>
          </a:prstGeom>
          <a:noFill/>
          <a:ln/>
        </p:spPr>
        <p:txBody>
          <a:bodyPr wrap="none" lIns="0" tIns="0" rIns="0" bIns="0" rtlCol="0" anchor="t"/>
          <a:lstStyle/>
          <a:p>
            <a:pPr algn="l" indent="0" marL="0">
              <a:lnSpc>
                <a:spcPts val="1100"/>
              </a:lnSpc>
              <a:buNone/>
            </a:pPr>
            <a:r>
              <a:rPr lang="en-US" sz="950" dirty="0">
                <a:solidFill>
                  <a:srgbClr val="E2E6E9"/>
                </a:solidFill>
                <a:latin typeface="Source Sans 3" pitchFamily="34" charset="0"/>
                <a:ea typeface="Source Sans 3" pitchFamily="34" charset="-122"/>
                <a:cs typeface="Source Sans 3" pitchFamily="34" charset="-120"/>
              </a:rPr>
              <a:t>Starting at just $5 for the smallest model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320534" y="819983"/>
            <a:ext cx="7672864" cy="361712"/>
          </a:xfrm>
          <a:prstGeom prst="rect">
            <a:avLst/>
          </a:prstGeom>
          <a:noFill/>
          <a:ln/>
        </p:spPr>
        <p:txBody>
          <a:bodyPr wrap="none" lIns="0" tIns="0" rIns="0" bIns="0" rtlCol="0" anchor="t"/>
          <a:lstStyle/>
          <a:p>
            <a:pPr algn="l" indent="0" marL="0">
              <a:lnSpc>
                <a:spcPts val="2800"/>
              </a:lnSpc>
              <a:buNone/>
            </a:pPr>
            <a:r>
              <a:rPr lang="en-US" sz="2250" b="1" dirty="0">
                <a:solidFill>
                  <a:srgbClr val="FFFFFF"/>
                </a:solidFill>
                <a:latin typeface="Montserrat Bold" pitchFamily="34" charset="0"/>
                <a:ea typeface="Montserrat Bold" pitchFamily="34" charset="-122"/>
                <a:cs typeface="Montserrat Bold" pitchFamily="34" charset="-120"/>
              </a:rPr>
              <a:t>Unleashing Creativity: Projects for Every Skill Level</a:t>
            </a:r>
            <a:endParaRPr lang="en-US" sz="2250" dirty="0"/>
          </a:p>
        </p:txBody>
      </p:sp>
      <p:sp>
        <p:nvSpPr>
          <p:cNvPr id="3" name="Text 1"/>
          <p:cNvSpPr/>
          <p:nvPr/>
        </p:nvSpPr>
        <p:spPr>
          <a:xfrm>
            <a:off x="3320534" y="1313021"/>
            <a:ext cx="7989332" cy="289560"/>
          </a:xfrm>
          <a:prstGeom prst="rect">
            <a:avLst/>
          </a:prstGeom>
          <a:noFill/>
          <a:ln/>
        </p:spPr>
        <p:txBody>
          <a:bodyPr wrap="square" lIns="0" tIns="0" rIns="0" bIns="0" rtlCol="0" anchor="t"/>
          <a:lstStyle/>
          <a:p>
            <a:pPr algn="l" indent="0" marL="0">
              <a:lnSpc>
                <a:spcPts val="1100"/>
              </a:lnSpc>
              <a:buNone/>
            </a:pPr>
            <a:r>
              <a:rPr lang="en-US" sz="1000" dirty="0">
                <a:solidFill>
                  <a:srgbClr val="E2E6E9"/>
                </a:solidFill>
                <a:latin typeface="Source Sans 3" pitchFamily="34" charset="0"/>
                <a:ea typeface="Source Sans 3" pitchFamily="34" charset="-122"/>
                <a:cs typeface="Source Sans 3" pitchFamily="34" charset="-120"/>
              </a:rPr>
              <a:t>From simple beginner projects to complex multi-year endeavors, the Raspberry Pi ecosystem offers endless possibilities for creators of all experience levels.</a:t>
            </a:r>
            <a:endParaRPr lang="en-US" sz="1000" dirty="0"/>
          </a:p>
        </p:txBody>
      </p:sp>
      <p:pic>
        <p:nvPicPr>
          <p:cNvPr id="4" name="Image 0" descr="preencoded.png">    </p:cNvPr>
          <p:cNvPicPr>
            <a:picLocks noChangeAspect="1"/>
          </p:cNvPicPr>
          <p:nvPr/>
        </p:nvPicPr>
        <p:blipFill>
          <a:blip r:embed="rId1"/>
          <a:stretch>
            <a:fillRect/>
          </a:stretch>
        </p:blipFill>
        <p:spPr>
          <a:xfrm>
            <a:off x="3320534" y="1676400"/>
            <a:ext cx="1935718" cy="1935718"/>
          </a:xfrm>
          <a:prstGeom prst="rect">
            <a:avLst/>
          </a:prstGeom>
        </p:spPr>
      </p:pic>
      <p:sp>
        <p:nvSpPr>
          <p:cNvPr id="5" name="Text 2"/>
          <p:cNvSpPr/>
          <p:nvPr/>
        </p:nvSpPr>
        <p:spPr>
          <a:xfrm>
            <a:off x="3320534" y="3677722"/>
            <a:ext cx="1447324" cy="180975"/>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Home Automation</a:t>
            </a:r>
            <a:endParaRPr lang="en-US" sz="1100" dirty="0"/>
          </a:p>
        </p:txBody>
      </p:sp>
      <p:sp>
        <p:nvSpPr>
          <p:cNvPr id="6" name="Text 3"/>
          <p:cNvSpPr/>
          <p:nvPr/>
        </p:nvSpPr>
        <p:spPr>
          <a:xfrm>
            <a:off x="3320534" y="3898106"/>
            <a:ext cx="1935718" cy="579120"/>
          </a:xfrm>
          <a:prstGeom prst="rect">
            <a:avLst/>
          </a:prstGeom>
          <a:noFill/>
          <a:ln/>
        </p:spPr>
        <p:txBody>
          <a:bodyPr wrap="square" lIns="0" tIns="0" rIns="0" bIns="0" rtlCol="0" anchor="t"/>
          <a:lstStyle/>
          <a:p>
            <a:pPr algn="l" indent="0" marL="0">
              <a:lnSpc>
                <a:spcPts val="1100"/>
              </a:lnSpc>
              <a:buNone/>
            </a:pPr>
            <a:r>
              <a:rPr lang="en-US" sz="1000" dirty="0">
                <a:solidFill>
                  <a:srgbClr val="E2E6E9"/>
                </a:solidFill>
                <a:latin typeface="Source Sans 3" pitchFamily="34" charset="0"/>
                <a:ea typeface="Source Sans 3" pitchFamily="34" charset="-122"/>
                <a:cs typeface="Source Sans 3" pitchFamily="34" charset="-120"/>
              </a:rPr>
              <a:t>Build your own smart home system to control lights, temperature, and security with voice commands or a mobile app.</a:t>
            </a:r>
            <a:endParaRPr lang="en-US" sz="1000" dirty="0"/>
          </a:p>
        </p:txBody>
      </p:sp>
      <p:pic>
        <p:nvPicPr>
          <p:cNvPr id="7" name="Image 1" descr="preencoded.png">    </p:cNvPr>
          <p:cNvPicPr>
            <a:picLocks noChangeAspect="1"/>
          </p:cNvPicPr>
          <p:nvPr/>
        </p:nvPicPr>
        <p:blipFill>
          <a:blip r:embed="rId2"/>
          <a:stretch>
            <a:fillRect/>
          </a:stretch>
        </p:blipFill>
        <p:spPr>
          <a:xfrm>
            <a:off x="5338286" y="1676400"/>
            <a:ext cx="1935837" cy="1935837"/>
          </a:xfrm>
          <a:prstGeom prst="rect">
            <a:avLst/>
          </a:prstGeom>
        </p:spPr>
      </p:pic>
      <p:sp>
        <p:nvSpPr>
          <p:cNvPr id="8" name="Text 4"/>
          <p:cNvSpPr/>
          <p:nvPr/>
        </p:nvSpPr>
        <p:spPr>
          <a:xfrm>
            <a:off x="5338286" y="3677841"/>
            <a:ext cx="1699260" cy="180975"/>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Retro Gaming Console</a:t>
            </a:r>
            <a:endParaRPr lang="en-US" sz="1100" dirty="0"/>
          </a:p>
        </p:txBody>
      </p:sp>
      <p:sp>
        <p:nvSpPr>
          <p:cNvPr id="9" name="Text 5"/>
          <p:cNvSpPr/>
          <p:nvPr/>
        </p:nvSpPr>
        <p:spPr>
          <a:xfrm>
            <a:off x="5338286" y="3898225"/>
            <a:ext cx="1935837" cy="434340"/>
          </a:xfrm>
          <a:prstGeom prst="rect">
            <a:avLst/>
          </a:prstGeom>
          <a:noFill/>
          <a:ln/>
        </p:spPr>
        <p:txBody>
          <a:bodyPr wrap="square" lIns="0" tIns="0" rIns="0" bIns="0" rtlCol="0" anchor="t"/>
          <a:lstStyle/>
          <a:p>
            <a:pPr algn="l" indent="0" marL="0">
              <a:lnSpc>
                <a:spcPts val="1100"/>
              </a:lnSpc>
              <a:buNone/>
            </a:pPr>
            <a:r>
              <a:rPr lang="en-US" sz="1000" dirty="0">
                <a:solidFill>
                  <a:srgbClr val="E2E6E9"/>
                </a:solidFill>
                <a:latin typeface="Source Sans 3" pitchFamily="34" charset="0"/>
                <a:ea typeface="Source Sans 3" pitchFamily="34" charset="-122"/>
                <a:cs typeface="Source Sans 3" pitchFamily="34" charset="-120"/>
              </a:rPr>
              <a:t>Create a retro arcade machine with thousands of classic games from the 80s, 90s, and 2000s.</a:t>
            </a:r>
            <a:endParaRPr lang="en-US" sz="1000" dirty="0"/>
          </a:p>
        </p:txBody>
      </p:sp>
      <p:pic>
        <p:nvPicPr>
          <p:cNvPr id="10" name="Image 2" descr="preencoded.png">    </p:cNvPr>
          <p:cNvPicPr>
            <a:picLocks noChangeAspect="1"/>
          </p:cNvPicPr>
          <p:nvPr/>
        </p:nvPicPr>
        <p:blipFill>
          <a:blip r:embed="rId3"/>
          <a:stretch>
            <a:fillRect/>
          </a:stretch>
        </p:blipFill>
        <p:spPr>
          <a:xfrm>
            <a:off x="7356158" y="1676400"/>
            <a:ext cx="1935837" cy="1935837"/>
          </a:xfrm>
          <a:prstGeom prst="rect">
            <a:avLst/>
          </a:prstGeom>
        </p:spPr>
      </p:pic>
      <p:sp>
        <p:nvSpPr>
          <p:cNvPr id="11" name="Text 6"/>
          <p:cNvSpPr/>
          <p:nvPr/>
        </p:nvSpPr>
        <p:spPr>
          <a:xfrm>
            <a:off x="7356158" y="3677841"/>
            <a:ext cx="1447324" cy="180975"/>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Media Center</a:t>
            </a:r>
            <a:endParaRPr lang="en-US" sz="1100" dirty="0"/>
          </a:p>
        </p:txBody>
      </p:sp>
      <p:sp>
        <p:nvSpPr>
          <p:cNvPr id="12" name="Text 7"/>
          <p:cNvSpPr/>
          <p:nvPr/>
        </p:nvSpPr>
        <p:spPr>
          <a:xfrm>
            <a:off x="7356158" y="3898225"/>
            <a:ext cx="1935837" cy="579120"/>
          </a:xfrm>
          <a:prstGeom prst="rect">
            <a:avLst/>
          </a:prstGeom>
          <a:noFill/>
          <a:ln/>
        </p:spPr>
        <p:txBody>
          <a:bodyPr wrap="square" lIns="0" tIns="0" rIns="0" bIns="0" rtlCol="0" anchor="t"/>
          <a:lstStyle/>
          <a:p>
            <a:pPr algn="l" indent="0" marL="0">
              <a:lnSpc>
                <a:spcPts val="1100"/>
              </a:lnSpc>
              <a:buNone/>
            </a:pPr>
            <a:r>
              <a:rPr lang="en-US" sz="1000" dirty="0">
                <a:solidFill>
                  <a:srgbClr val="E2E6E9"/>
                </a:solidFill>
                <a:latin typeface="Source Sans 3" pitchFamily="34" charset="0"/>
                <a:ea typeface="Source Sans 3" pitchFamily="34" charset="-122"/>
                <a:cs typeface="Source Sans 3" pitchFamily="34" charset="-120"/>
              </a:rPr>
              <a:t>Transform your Pi into a streaming box for movies, music, and shows from your personal library or online services.</a:t>
            </a:r>
            <a:endParaRPr lang="en-US" sz="1000" dirty="0"/>
          </a:p>
        </p:txBody>
      </p:sp>
      <p:pic>
        <p:nvPicPr>
          <p:cNvPr id="13" name="Image 3" descr="preencoded.png">    </p:cNvPr>
          <p:cNvPicPr>
            <a:picLocks noChangeAspect="1"/>
          </p:cNvPicPr>
          <p:nvPr/>
        </p:nvPicPr>
        <p:blipFill>
          <a:blip r:embed="rId4"/>
          <a:stretch>
            <a:fillRect/>
          </a:stretch>
        </p:blipFill>
        <p:spPr>
          <a:xfrm>
            <a:off x="9374029" y="1676400"/>
            <a:ext cx="1935837" cy="1935837"/>
          </a:xfrm>
          <a:prstGeom prst="rect">
            <a:avLst/>
          </a:prstGeom>
        </p:spPr>
      </p:pic>
      <p:sp>
        <p:nvSpPr>
          <p:cNvPr id="14" name="Text 8"/>
          <p:cNvSpPr/>
          <p:nvPr/>
        </p:nvSpPr>
        <p:spPr>
          <a:xfrm>
            <a:off x="9374029" y="3677841"/>
            <a:ext cx="1447324" cy="180975"/>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Weather Station</a:t>
            </a:r>
            <a:endParaRPr lang="en-US" sz="1100" dirty="0"/>
          </a:p>
        </p:txBody>
      </p:sp>
      <p:sp>
        <p:nvSpPr>
          <p:cNvPr id="15" name="Text 9"/>
          <p:cNvSpPr/>
          <p:nvPr/>
        </p:nvSpPr>
        <p:spPr>
          <a:xfrm>
            <a:off x="9374029" y="3898225"/>
            <a:ext cx="1935837" cy="579120"/>
          </a:xfrm>
          <a:prstGeom prst="rect">
            <a:avLst/>
          </a:prstGeom>
          <a:noFill/>
          <a:ln/>
        </p:spPr>
        <p:txBody>
          <a:bodyPr wrap="square" lIns="0" tIns="0" rIns="0" bIns="0" rtlCol="0" anchor="t"/>
          <a:lstStyle/>
          <a:p>
            <a:pPr algn="l" indent="0" marL="0">
              <a:lnSpc>
                <a:spcPts val="1100"/>
              </a:lnSpc>
              <a:buNone/>
            </a:pPr>
            <a:r>
              <a:rPr lang="en-US" sz="1000" dirty="0">
                <a:solidFill>
                  <a:srgbClr val="E2E6E9"/>
                </a:solidFill>
                <a:latin typeface="Source Sans 3" pitchFamily="34" charset="0"/>
                <a:ea typeface="Source Sans 3" pitchFamily="34" charset="-122"/>
                <a:cs typeface="Source Sans 3" pitchFamily="34" charset="-120"/>
              </a:rPr>
              <a:t>Monitor temperature, humidity, pressure, and rainfall in your area with sensors and display data on a web dashboard.</a:t>
            </a:r>
            <a:endParaRPr lang="en-US" sz="1000" dirty="0"/>
          </a:p>
        </p:txBody>
      </p:sp>
      <p:pic>
        <p:nvPicPr>
          <p:cNvPr id="16" name="Image 4" descr="preencoded.png">    </p:cNvPr>
          <p:cNvPicPr>
            <a:picLocks noChangeAspect="1"/>
          </p:cNvPicPr>
          <p:nvPr/>
        </p:nvPicPr>
        <p:blipFill>
          <a:blip r:embed="rId5"/>
          <a:stretch>
            <a:fillRect/>
          </a:stretch>
        </p:blipFill>
        <p:spPr>
          <a:xfrm>
            <a:off x="3320534" y="4608671"/>
            <a:ext cx="1935718" cy="1935718"/>
          </a:xfrm>
          <a:prstGeom prst="rect">
            <a:avLst/>
          </a:prstGeom>
        </p:spPr>
      </p:pic>
      <p:sp>
        <p:nvSpPr>
          <p:cNvPr id="17" name="Text 10"/>
          <p:cNvSpPr/>
          <p:nvPr/>
        </p:nvSpPr>
        <p:spPr>
          <a:xfrm>
            <a:off x="3320534" y="6609993"/>
            <a:ext cx="1447324" cy="180975"/>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Security Camera</a:t>
            </a:r>
            <a:endParaRPr lang="en-US" sz="1100" dirty="0"/>
          </a:p>
        </p:txBody>
      </p:sp>
      <p:sp>
        <p:nvSpPr>
          <p:cNvPr id="18" name="Text 11"/>
          <p:cNvSpPr/>
          <p:nvPr/>
        </p:nvSpPr>
        <p:spPr>
          <a:xfrm>
            <a:off x="3320534" y="6830378"/>
            <a:ext cx="1935718" cy="579120"/>
          </a:xfrm>
          <a:prstGeom prst="rect">
            <a:avLst/>
          </a:prstGeom>
          <a:noFill/>
          <a:ln/>
        </p:spPr>
        <p:txBody>
          <a:bodyPr wrap="square" lIns="0" tIns="0" rIns="0" bIns="0" rtlCol="0" anchor="t"/>
          <a:lstStyle/>
          <a:p>
            <a:pPr algn="l" indent="0" marL="0">
              <a:lnSpc>
                <a:spcPts val="1100"/>
              </a:lnSpc>
              <a:buNone/>
            </a:pPr>
            <a:r>
              <a:rPr lang="en-US" sz="1000" dirty="0">
                <a:solidFill>
                  <a:srgbClr val="E2E6E9"/>
                </a:solidFill>
                <a:latin typeface="Source Sans 3" pitchFamily="34" charset="0"/>
                <a:ea typeface="Source Sans 3" pitchFamily="34" charset="-122"/>
                <a:cs typeface="Source Sans 3" pitchFamily="34" charset="-120"/>
              </a:rPr>
              <a:t>Set up motion-activated surveillance with night vision and cloud storage for your home or workspace.</a:t>
            </a:r>
            <a:endParaRPr lang="en-US" sz="1000" dirty="0"/>
          </a:p>
        </p:txBody>
      </p:sp>
      <p:pic>
        <p:nvPicPr>
          <p:cNvPr id="19" name="Image 5" descr="preencoded.png">    </p:cNvPr>
          <p:cNvPicPr>
            <a:picLocks noChangeAspect="1"/>
          </p:cNvPicPr>
          <p:nvPr/>
        </p:nvPicPr>
        <p:blipFill>
          <a:blip r:embed="rId6"/>
          <a:stretch>
            <a:fillRect/>
          </a:stretch>
        </p:blipFill>
        <p:spPr>
          <a:xfrm>
            <a:off x="5338286" y="4608671"/>
            <a:ext cx="1935837" cy="1935837"/>
          </a:xfrm>
          <a:prstGeom prst="rect">
            <a:avLst/>
          </a:prstGeom>
        </p:spPr>
      </p:pic>
      <p:sp>
        <p:nvSpPr>
          <p:cNvPr id="20" name="Text 12"/>
          <p:cNvSpPr/>
          <p:nvPr/>
        </p:nvSpPr>
        <p:spPr>
          <a:xfrm>
            <a:off x="5338286" y="6610112"/>
            <a:ext cx="1447324" cy="180975"/>
          </a:xfrm>
          <a:prstGeom prst="rect">
            <a:avLst/>
          </a:prstGeom>
          <a:noFill/>
          <a:ln/>
        </p:spPr>
        <p:txBody>
          <a:bodyPr wrap="none" lIns="0" tIns="0" rIns="0" bIns="0" rtlCol="0" anchor="t"/>
          <a:lstStyle/>
          <a:p>
            <a:pPr algn="l" indent="0" marL="0">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Robotics Platform</a:t>
            </a:r>
            <a:endParaRPr lang="en-US" sz="1100" dirty="0"/>
          </a:p>
        </p:txBody>
      </p:sp>
      <p:sp>
        <p:nvSpPr>
          <p:cNvPr id="21" name="Text 13"/>
          <p:cNvSpPr/>
          <p:nvPr/>
        </p:nvSpPr>
        <p:spPr>
          <a:xfrm>
            <a:off x="5338286" y="6830497"/>
            <a:ext cx="1935837" cy="579120"/>
          </a:xfrm>
          <a:prstGeom prst="rect">
            <a:avLst/>
          </a:prstGeom>
          <a:noFill/>
          <a:ln/>
        </p:spPr>
        <p:txBody>
          <a:bodyPr wrap="square" lIns="0" tIns="0" rIns="0" bIns="0" rtlCol="0" anchor="t"/>
          <a:lstStyle/>
          <a:p>
            <a:pPr algn="l" indent="0" marL="0">
              <a:lnSpc>
                <a:spcPts val="1100"/>
              </a:lnSpc>
              <a:buNone/>
            </a:pPr>
            <a:r>
              <a:rPr lang="en-US" sz="1000" dirty="0">
                <a:solidFill>
                  <a:srgbClr val="E2E6E9"/>
                </a:solidFill>
                <a:latin typeface="Source Sans 3" pitchFamily="34" charset="0"/>
                <a:ea typeface="Source Sans 3" pitchFamily="34" charset="-122"/>
                <a:cs typeface="Source Sans 3" pitchFamily="34" charset="-120"/>
              </a:rPr>
              <a:t>Control motors, servos, and sensors to build autonomous robots that navigate, avoid obstacles, and complete tasks.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23848" y="1460421"/>
            <a:ext cx="8069104" cy="872252"/>
          </a:xfrm>
          <a:prstGeom prst="rect">
            <a:avLst/>
          </a:prstGeom>
          <a:noFill/>
          <a:ln/>
        </p:spPr>
        <p:txBody>
          <a:bodyPr wrap="square" lIns="0" tIns="0" rIns="0" bIns="0" rtlCol="0" anchor="t"/>
          <a:lstStyle/>
          <a:p>
            <a:pPr algn="l" indent="0" marL="0">
              <a:lnSpc>
                <a:spcPts val="3400"/>
              </a:lnSpc>
              <a:buNone/>
            </a:pPr>
            <a:r>
              <a:rPr lang="en-US" sz="2700" b="1" dirty="0">
                <a:solidFill>
                  <a:srgbClr val="FFFFFF"/>
                </a:solidFill>
                <a:latin typeface="Montserrat Bold" pitchFamily="34" charset="0"/>
                <a:ea typeface="Montserrat Bold" pitchFamily="34" charset="-122"/>
                <a:cs typeface="Montserrat Bold" pitchFamily="34" charset="-120"/>
              </a:rPr>
              <a:t>Beyond the Basics: Advanced Applications and IoT</a:t>
            </a:r>
            <a:endParaRPr lang="en-US" sz="2700" dirty="0"/>
          </a:p>
        </p:txBody>
      </p:sp>
      <p:sp>
        <p:nvSpPr>
          <p:cNvPr id="4" name="Shape 1"/>
          <p:cNvSpPr/>
          <p:nvPr/>
        </p:nvSpPr>
        <p:spPr>
          <a:xfrm>
            <a:off x="6023848" y="2475905"/>
            <a:ext cx="8069104" cy="1001673"/>
          </a:xfrm>
          <a:prstGeom prst="roundRect">
            <a:avLst>
              <a:gd name="adj" fmla="val 10954"/>
            </a:avLst>
          </a:prstGeom>
          <a:solidFill>
            <a:srgbClr val="111213"/>
          </a:solidFill>
          <a:ln w="22860">
            <a:solidFill>
              <a:srgbClr val="494A4B"/>
            </a:solidFill>
            <a:prstDash val="solid"/>
          </a:ln>
        </p:spPr>
      </p:sp>
      <p:sp>
        <p:nvSpPr>
          <p:cNvPr id="5" name="Shape 2"/>
          <p:cNvSpPr/>
          <p:nvPr/>
        </p:nvSpPr>
        <p:spPr>
          <a:xfrm>
            <a:off x="6000988" y="2475905"/>
            <a:ext cx="91440" cy="1001673"/>
          </a:xfrm>
          <a:prstGeom prst="roundRect">
            <a:avLst>
              <a:gd name="adj" fmla="val 25190"/>
            </a:avLst>
          </a:prstGeom>
          <a:solidFill>
            <a:srgbClr val="FFFFFF"/>
          </a:solidFill>
          <a:ln/>
        </p:spPr>
      </p:sp>
      <p:sp>
        <p:nvSpPr>
          <p:cNvPr id="6" name="Text 3"/>
          <p:cNvSpPr/>
          <p:nvPr/>
        </p:nvSpPr>
        <p:spPr>
          <a:xfrm>
            <a:off x="6268760" y="2652236"/>
            <a:ext cx="2081451" cy="218123"/>
          </a:xfrm>
          <a:prstGeom prst="rect">
            <a:avLst/>
          </a:prstGeom>
          <a:noFill/>
          <a:ln/>
        </p:spPr>
        <p:txBody>
          <a:bodyPr wrap="none" lIns="0" tIns="0" rIns="0" bIns="0" rtlCol="0" anchor="t"/>
          <a:lstStyle/>
          <a:p>
            <a:pPr algn="l" indent="0" marL="0">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Internet of Things (IoT)</a:t>
            </a:r>
            <a:endParaRPr lang="en-US" sz="1350" dirty="0"/>
          </a:p>
        </p:txBody>
      </p:sp>
      <p:sp>
        <p:nvSpPr>
          <p:cNvPr id="7" name="Text 4"/>
          <p:cNvSpPr/>
          <p:nvPr/>
        </p:nvSpPr>
        <p:spPr>
          <a:xfrm>
            <a:off x="6268760" y="2927628"/>
            <a:ext cx="7647861" cy="373618"/>
          </a:xfrm>
          <a:prstGeom prst="rect">
            <a:avLst/>
          </a:prstGeom>
          <a:noFill/>
          <a:ln/>
        </p:spPr>
        <p:txBody>
          <a:bodyPr wrap="square" lIns="0" tIns="0" rIns="0" bIns="0" rtlCol="0" anchor="t"/>
          <a:lstStyle/>
          <a:p>
            <a:pPr algn="l" indent="0" marL="0">
              <a:lnSpc>
                <a:spcPts val="1450"/>
              </a:lnSpc>
              <a:buNone/>
            </a:pPr>
            <a:r>
              <a:rPr lang="en-US" sz="1200" dirty="0">
                <a:solidFill>
                  <a:srgbClr val="E2E6E9"/>
                </a:solidFill>
                <a:latin typeface="Source Sans 3" pitchFamily="34" charset="0"/>
                <a:ea typeface="Source Sans 3" pitchFamily="34" charset="-122"/>
                <a:cs typeface="Source Sans 3" pitchFamily="34" charset="-120"/>
              </a:rPr>
              <a:t>Connect sensors and devices to collect data, automate processes, and monitor systems remotely. Perfect for industrial monitoring, agriculture, and environmental sensing.</a:t>
            </a:r>
            <a:endParaRPr lang="en-US" sz="1200" dirty="0"/>
          </a:p>
        </p:txBody>
      </p:sp>
      <p:sp>
        <p:nvSpPr>
          <p:cNvPr id="8" name="Shape 5"/>
          <p:cNvSpPr/>
          <p:nvPr/>
        </p:nvSpPr>
        <p:spPr>
          <a:xfrm>
            <a:off x="6023848" y="3573066"/>
            <a:ext cx="8069104" cy="1001673"/>
          </a:xfrm>
          <a:prstGeom prst="roundRect">
            <a:avLst>
              <a:gd name="adj" fmla="val 10954"/>
            </a:avLst>
          </a:prstGeom>
          <a:solidFill>
            <a:srgbClr val="111213"/>
          </a:solidFill>
          <a:ln w="22860">
            <a:solidFill>
              <a:srgbClr val="494A4B"/>
            </a:solidFill>
            <a:prstDash val="solid"/>
          </a:ln>
        </p:spPr>
      </p:sp>
      <p:sp>
        <p:nvSpPr>
          <p:cNvPr id="9" name="Shape 6"/>
          <p:cNvSpPr/>
          <p:nvPr/>
        </p:nvSpPr>
        <p:spPr>
          <a:xfrm>
            <a:off x="6000988" y="3573066"/>
            <a:ext cx="91440" cy="1001673"/>
          </a:xfrm>
          <a:prstGeom prst="roundRect">
            <a:avLst>
              <a:gd name="adj" fmla="val 25190"/>
            </a:avLst>
          </a:prstGeom>
          <a:solidFill>
            <a:srgbClr val="FFFFFF"/>
          </a:solidFill>
          <a:ln/>
        </p:spPr>
      </p:sp>
      <p:sp>
        <p:nvSpPr>
          <p:cNvPr id="10" name="Text 7"/>
          <p:cNvSpPr/>
          <p:nvPr/>
        </p:nvSpPr>
        <p:spPr>
          <a:xfrm>
            <a:off x="6268760" y="3749397"/>
            <a:ext cx="1744980" cy="218123"/>
          </a:xfrm>
          <a:prstGeom prst="rect">
            <a:avLst/>
          </a:prstGeom>
          <a:noFill/>
          <a:ln/>
        </p:spPr>
        <p:txBody>
          <a:bodyPr wrap="none" lIns="0" tIns="0" rIns="0" bIns="0" rtlCol="0" anchor="t"/>
          <a:lstStyle/>
          <a:p>
            <a:pPr algn="l" indent="0" marL="0">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Edge Computing</a:t>
            </a:r>
            <a:endParaRPr lang="en-US" sz="1350" dirty="0"/>
          </a:p>
        </p:txBody>
      </p:sp>
      <p:sp>
        <p:nvSpPr>
          <p:cNvPr id="11" name="Text 8"/>
          <p:cNvSpPr/>
          <p:nvPr/>
        </p:nvSpPr>
        <p:spPr>
          <a:xfrm>
            <a:off x="6268760" y="4024789"/>
            <a:ext cx="7647861" cy="373618"/>
          </a:xfrm>
          <a:prstGeom prst="rect">
            <a:avLst/>
          </a:prstGeom>
          <a:noFill/>
          <a:ln/>
        </p:spPr>
        <p:txBody>
          <a:bodyPr wrap="square" lIns="0" tIns="0" rIns="0" bIns="0" rtlCol="0" anchor="t"/>
          <a:lstStyle/>
          <a:p>
            <a:pPr algn="l" indent="0" marL="0">
              <a:lnSpc>
                <a:spcPts val="1450"/>
              </a:lnSpc>
              <a:buNone/>
            </a:pPr>
            <a:r>
              <a:rPr lang="en-US" sz="1200" dirty="0">
                <a:solidFill>
                  <a:srgbClr val="E2E6E9"/>
                </a:solidFill>
                <a:latin typeface="Source Sans 3" pitchFamily="34" charset="0"/>
                <a:ea typeface="Source Sans 3" pitchFamily="34" charset="-122"/>
                <a:cs typeface="Source Sans 3" pitchFamily="34" charset="-120"/>
              </a:rPr>
              <a:t>Process data locally on the Pi instead of sending it to the cloud, reducing latency and bandwidth costs while maintaining privacy and security.</a:t>
            </a:r>
            <a:endParaRPr lang="en-US" sz="1200" dirty="0"/>
          </a:p>
        </p:txBody>
      </p:sp>
      <p:sp>
        <p:nvSpPr>
          <p:cNvPr id="12" name="Shape 9"/>
          <p:cNvSpPr/>
          <p:nvPr/>
        </p:nvSpPr>
        <p:spPr>
          <a:xfrm>
            <a:off x="6023848" y="4670227"/>
            <a:ext cx="8069104" cy="1001673"/>
          </a:xfrm>
          <a:prstGeom prst="roundRect">
            <a:avLst>
              <a:gd name="adj" fmla="val 10954"/>
            </a:avLst>
          </a:prstGeom>
          <a:solidFill>
            <a:srgbClr val="111213"/>
          </a:solidFill>
          <a:ln w="22860">
            <a:solidFill>
              <a:srgbClr val="494A4B"/>
            </a:solidFill>
            <a:prstDash val="solid"/>
          </a:ln>
        </p:spPr>
      </p:sp>
      <p:sp>
        <p:nvSpPr>
          <p:cNvPr id="13" name="Shape 10"/>
          <p:cNvSpPr/>
          <p:nvPr/>
        </p:nvSpPr>
        <p:spPr>
          <a:xfrm>
            <a:off x="6000988" y="4670227"/>
            <a:ext cx="91440" cy="1001673"/>
          </a:xfrm>
          <a:prstGeom prst="roundRect">
            <a:avLst>
              <a:gd name="adj" fmla="val 25190"/>
            </a:avLst>
          </a:prstGeom>
          <a:solidFill>
            <a:srgbClr val="FFFFFF"/>
          </a:solidFill>
          <a:ln/>
        </p:spPr>
      </p:sp>
      <p:sp>
        <p:nvSpPr>
          <p:cNvPr id="14" name="Text 11"/>
          <p:cNvSpPr/>
          <p:nvPr/>
        </p:nvSpPr>
        <p:spPr>
          <a:xfrm>
            <a:off x="6268760" y="4846558"/>
            <a:ext cx="1744980" cy="218123"/>
          </a:xfrm>
          <a:prstGeom prst="rect">
            <a:avLst/>
          </a:prstGeom>
          <a:noFill/>
          <a:ln/>
        </p:spPr>
        <p:txBody>
          <a:bodyPr wrap="none" lIns="0" tIns="0" rIns="0" bIns="0" rtlCol="0" anchor="t"/>
          <a:lstStyle/>
          <a:p>
            <a:pPr algn="l" indent="0" marL="0">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Machine Learning</a:t>
            </a:r>
            <a:endParaRPr lang="en-US" sz="1350" dirty="0"/>
          </a:p>
        </p:txBody>
      </p:sp>
      <p:sp>
        <p:nvSpPr>
          <p:cNvPr id="15" name="Text 12"/>
          <p:cNvSpPr/>
          <p:nvPr/>
        </p:nvSpPr>
        <p:spPr>
          <a:xfrm>
            <a:off x="6268760" y="5121950"/>
            <a:ext cx="7647861" cy="373618"/>
          </a:xfrm>
          <a:prstGeom prst="rect">
            <a:avLst/>
          </a:prstGeom>
          <a:noFill/>
          <a:ln/>
        </p:spPr>
        <p:txBody>
          <a:bodyPr wrap="square" lIns="0" tIns="0" rIns="0" bIns="0" rtlCol="0" anchor="t"/>
          <a:lstStyle/>
          <a:p>
            <a:pPr algn="l" indent="0" marL="0">
              <a:lnSpc>
                <a:spcPts val="1450"/>
              </a:lnSpc>
              <a:buNone/>
            </a:pPr>
            <a:r>
              <a:rPr lang="en-US" sz="1200" dirty="0">
                <a:solidFill>
                  <a:srgbClr val="E2E6E9"/>
                </a:solidFill>
                <a:latin typeface="Source Sans 3" pitchFamily="34" charset="0"/>
                <a:ea typeface="Source Sans 3" pitchFamily="34" charset="-122"/>
                <a:cs typeface="Source Sans 3" pitchFamily="34" charset="-120"/>
              </a:rPr>
              <a:t>Run AI models for image recognition, natural language processing, and predictive analytics directly on the device using TensorFlow Lite and other frameworks.</a:t>
            </a:r>
            <a:endParaRPr lang="en-US" sz="1200" dirty="0"/>
          </a:p>
        </p:txBody>
      </p:sp>
      <p:sp>
        <p:nvSpPr>
          <p:cNvPr id="16" name="Shape 13"/>
          <p:cNvSpPr/>
          <p:nvPr/>
        </p:nvSpPr>
        <p:spPr>
          <a:xfrm>
            <a:off x="6023848" y="5767388"/>
            <a:ext cx="8069104" cy="1001673"/>
          </a:xfrm>
          <a:prstGeom prst="roundRect">
            <a:avLst>
              <a:gd name="adj" fmla="val 10954"/>
            </a:avLst>
          </a:prstGeom>
          <a:solidFill>
            <a:srgbClr val="111213"/>
          </a:solidFill>
          <a:ln w="22860">
            <a:solidFill>
              <a:srgbClr val="494A4B"/>
            </a:solidFill>
            <a:prstDash val="solid"/>
          </a:ln>
        </p:spPr>
      </p:sp>
      <p:sp>
        <p:nvSpPr>
          <p:cNvPr id="17" name="Shape 14"/>
          <p:cNvSpPr/>
          <p:nvPr/>
        </p:nvSpPr>
        <p:spPr>
          <a:xfrm>
            <a:off x="6000988" y="5767388"/>
            <a:ext cx="91440" cy="1001673"/>
          </a:xfrm>
          <a:prstGeom prst="roundRect">
            <a:avLst>
              <a:gd name="adj" fmla="val 25190"/>
            </a:avLst>
          </a:prstGeom>
          <a:solidFill>
            <a:srgbClr val="FFFFFF"/>
          </a:solidFill>
          <a:ln/>
        </p:spPr>
      </p:sp>
      <p:sp>
        <p:nvSpPr>
          <p:cNvPr id="18" name="Text 15"/>
          <p:cNvSpPr/>
          <p:nvPr/>
        </p:nvSpPr>
        <p:spPr>
          <a:xfrm>
            <a:off x="6268760" y="5943719"/>
            <a:ext cx="1744980" cy="218123"/>
          </a:xfrm>
          <a:prstGeom prst="rect">
            <a:avLst/>
          </a:prstGeom>
          <a:noFill/>
          <a:ln/>
        </p:spPr>
        <p:txBody>
          <a:bodyPr wrap="none" lIns="0" tIns="0" rIns="0" bIns="0" rtlCol="0" anchor="t"/>
          <a:lstStyle/>
          <a:p>
            <a:pPr algn="l" indent="0" marL="0">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Network Services</a:t>
            </a:r>
            <a:endParaRPr lang="en-US" sz="1350" dirty="0"/>
          </a:p>
        </p:txBody>
      </p:sp>
      <p:sp>
        <p:nvSpPr>
          <p:cNvPr id="19" name="Text 16"/>
          <p:cNvSpPr/>
          <p:nvPr/>
        </p:nvSpPr>
        <p:spPr>
          <a:xfrm>
            <a:off x="6268760" y="6219111"/>
            <a:ext cx="7647861" cy="373618"/>
          </a:xfrm>
          <a:prstGeom prst="rect">
            <a:avLst/>
          </a:prstGeom>
          <a:noFill/>
          <a:ln/>
        </p:spPr>
        <p:txBody>
          <a:bodyPr wrap="square" lIns="0" tIns="0" rIns="0" bIns="0" rtlCol="0" anchor="t"/>
          <a:lstStyle/>
          <a:p>
            <a:pPr algn="l" indent="0" marL="0">
              <a:lnSpc>
                <a:spcPts val="1450"/>
              </a:lnSpc>
              <a:buNone/>
            </a:pPr>
            <a:r>
              <a:rPr lang="en-US" sz="1200" dirty="0">
                <a:solidFill>
                  <a:srgbClr val="E2E6E9"/>
                </a:solidFill>
                <a:latin typeface="Source Sans 3" pitchFamily="34" charset="0"/>
                <a:ea typeface="Source Sans 3" pitchFamily="34" charset="-122"/>
                <a:cs typeface="Source Sans 3" pitchFamily="34" charset="-120"/>
              </a:rPr>
              <a:t>Host your own web server, VPN, ad blocker, or file server, giving you complete control over your network infrastructure without recurring fees.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07894" y="1519357"/>
            <a:ext cx="8101013" cy="846534"/>
          </a:xfrm>
          <a:prstGeom prst="rect">
            <a:avLst/>
          </a:prstGeom>
          <a:noFill/>
          <a:ln/>
        </p:spPr>
        <p:txBody>
          <a:bodyPr wrap="square" lIns="0" tIns="0" rIns="0" bIns="0" rtlCol="0" anchor="t"/>
          <a:lstStyle/>
          <a:p>
            <a:pPr algn="l" indent="0" marL="0">
              <a:lnSpc>
                <a:spcPts val="3300"/>
              </a:lnSpc>
              <a:buNone/>
            </a:pPr>
            <a:r>
              <a:rPr lang="en-US" sz="2650" b="1" dirty="0">
                <a:solidFill>
                  <a:srgbClr val="FFFFFF"/>
                </a:solidFill>
                <a:latin typeface="Montserrat Bold" pitchFamily="34" charset="0"/>
                <a:ea typeface="Montserrat Bold" pitchFamily="34" charset="-122"/>
                <a:cs typeface="Montserrat Bold" pitchFamily="34" charset="-120"/>
              </a:rPr>
              <a:t>Getting Started: Essential Tools and First Steps</a:t>
            </a:r>
            <a:endParaRPr lang="en-US" sz="2650" dirty="0"/>
          </a:p>
        </p:txBody>
      </p:sp>
      <p:sp>
        <p:nvSpPr>
          <p:cNvPr id="4" name="Text 1"/>
          <p:cNvSpPr/>
          <p:nvPr/>
        </p:nvSpPr>
        <p:spPr>
          <a:xfrm>
            <a:off x="6007894" y="2500789"/>
            <a:ext cx="8101013" cy="179189"/>
          </a:xfrm>
          <a:prstGeom prst="rect">
            <a:avLst/>
          </a:prstGeom>
          <a:noFill/>
          <a:ln/>
        </p:spPr>
        <p:txBody>
          <a:bodyPr wrap="none" lIns="0" tIns="0" rIns="0" bIns="0" rtlCol="0" anchor="t"/>
          <a:lstStyle/>
          <a:p>
            <a:pPr algn="l" indent="0" marL="0">
              <a:lnSpc>
                <a:spcPts val="1400"/>
              </a:lnSpc>
              <a:buNone/>
            </a:pPr>
            <a:r>
              <a:rPr lang="en-US" sz="1150" dirty="0">
                <a:solidFill>
                  <a:srgbClr val="E2E6E9"/>
                </a:solidFill>
                <a:latin typeface="Source Sans 3" pitchFamily="34" charset="0"/>
                <a:ea typeface="Source Sans 3" pitchFamily="34" charset="-122"/>
                <a:cs typeface="Source Sans 3" pitchFamily="34" charset="-120"/>
              </a:rPr>
              <a:t>Ready to dive into the world of Raspberry Pi? Here's everything you need to begin your journey from unboxing to your first project.</a:t>
            </a:r>
            <a:endParaRPr lang="en-US" sz="1150" dirty="0"/>
          </a:p>
        </p:txBody>
      </p:sp>
      <p:sp>
        <p:nvSpPr>
          <p:cNvPr id="5" name="Shape 2"/>
          <p:cNvSpPr/>
          <p:nvPr/>
        </p:nvSpPr>
        <p:spPr>
          <a:xfrm>
            <a:off x="6156841" y="3004542"/>
            <a:ext cx="148947" cy="698183"/>
          </a:xfrm>
          <a:prstGeom prst="roundRect">
            <a:avLst>
              <a:gd name="adj" fmla="val 15006"/>
            </a:avLst>
          </a:prstGeom>
          <a:solidFill>
            <a:srgbClr val="303132"/>
          </a:solidFill>
          <a:ln/>
        </p:spPr>
      </p:sp>
      <p:sp>
        <p:nvSpPr>
          <p:cNvPr id="6" name="Shape 3"/>
          <p:cNvSpPr/>
          <p:nvPr/>
        </p:nvSpPr>
        <p:spPr>
          <a:xfrm>
            <a:off x="6007894" y="2906673"/>
            <a:ext cx="446961" cy="446961"/>
          </a:xfrm>
          <a:prstGeom prst="roundRect">
            <a:avLst>
              <a:gd name="adj" fmla="val 102291"/>
            </a:avLst>
          </a:prstGeom>
          <a:solidFill>
            <a:srgbClr val="303132"/>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19574" y="3018353"/>
            <a:ext cx="223480" cy="223480"/>
          </a:xfrm>
          <a:prstGeom prst="rect">
            <a:avLst/>
          </a:prstGeom>
        </p:spPr>
      </p:pic>
      <p:sp>
        <p:nvSpPr>
          <p:cNvPr id="8" name="Text 4"/>
          <p:cNvSpPr/>
          <p:nvPr/>
        </p:nvSpPr>
        <p:spPr>
          <a:xfrm>
            <a:off x="6544747" y="2930009"/>
            <a:ext cx="1693188" cy="211574"/>
          </a:xfrm>
          <a:prstGeom prst="rect">
            <a:avLst/>
          </a:prstGeom>
          <a:noFill/>
          <a:ln/>
        </p:spPr>
        <p:txBody>
          <a:bodyPr wrap="none" lIns="0" tIns="0" rIns="0" bIns="0" rtlCol="0" anchor="t"/>
          <a:lstStyle/>
          <a:p>
            <a:pPr algn="l" indent="0" marL="0">
              <a:lnSpc>
                <a:spcPts val="1650"/>
              </a:lnSpc>
              <a:buNone/>
            </a:pPr>
            <a:r>
              <a:rPr lang="en-US" sz="1300" b="1" dirty="0">
                <a:solidFill>
                  <a:srgbClr val="E2E6E9"/>
                </a:solidFill>
                <a:latin typeface="Montserrat Bold" pitchFamily="34" charset="0"/>
                <a:ea typeface="Montserrat Bold" pitchFamily="34" charset="-122"/>
                <a:cs typeface="Montserrat Bold" pitchFamily="34" charset="-120"/>
              </a:rPr>
              <a:t>Acquire Hardware</a:t>
            </a:r>
            <a:endParaRPr lang="en-US" sz="1300" dirty="0"/>
          </a:p>
        </p:txBody>
      </p:sp>
      <p:sp>
        <p:nvSpPr>
          <p:cNvPr id="9" name="Text 5"/>
          <p:cNvSpPr/>
          <p:nvPr/>
        </p:nvSpPr>
        <p:spPr>
          <a:xfrm>
            <a:off x="6544747" y="3195518"/>
            <a:ext cx="7564160" cy="358378"/>
          </a:xfrm>
          <a:prstGeom prst="rect">
            <a:avLst/>
          </a:prstGeom>
          <a:noFill/>
          <a:ln/>
        </p:spPr>
        <p:txBody>
          <a:bodyPr wrap="square" lIns="0" tIns="0" rIns="0" bIns="0" rtlCol="0" anchor="t"/>
          <a:lstStyle/>
          <a:p>
            <a:pPr algn="l" indent="0" marL="0">
              <a:lnSpc>
                <a:spcPts val="1400"/>
              </a:lnSpc>
              <a:buNone/>
            </a:pPr>
            <a:r>
              <a:rPr lang="en-US" sz="1150" dirty="0">
                <a:solidFill>
                  <a:srgbClr val="E2E6E9"/>
                </a:solidFill>
                <a:latin typeface="Source Sans 3" pitchFamily="34" charset="0"/>
                <a:ea typeface="Source Sans 3" pitchFamily="34" charset="-122"/>
                <a:cs typeface="Source Sans 3" pitchFamily="34" charset="-120"/>
              </a:rPr>
              <a:t>Start with a Raspberry Pi 4 or 400, microSD card (16GB+), power supply, HDMI cable, and optionally a case. Total cost: $55-$90.</a:t>
            </a:r>
            <a:endParaRPr lang="en-US" sz="1150" dirty="0"/>
          </a:p>
        </p:txBody>
      </p:sp>
      <p:sp>
        <p:nvSpPr>
          <p:cNvPr id="10" name="Shape 6"/>
          <p:cNvSpPr/>
          <p:nvPr/>
        </p:nvSpPr>
        <p:spPr>
          <a:xfrm>
            <a:off x="6380321" y="4016216"/>
            <a:ext cx="148947" cy="670441"/>
          </a:xfrm>
          <a:prstGeom prst="roundRect">
            <a:avLst>
              <a:gd name="adj" fmla="val 15006"/>
            </a:avLst>
          </a:prstGeom>
          <a:solidFill>
            <a:srgbClr val="303132"/>
          </a:solidFill>
          <a:ln/>
        </p:spPr>
      </p:sp>
      <p:sp>
        <p:nvSpPr>
          <p:cNvPr id="11" name="Shape 7"/>
          <p:cNvSpPr/>
          <p:nvPr/>
        </p:nvSpPr>
        <p:spPr>
          <a:xfrm>
            <a:off x="6231374" y="3918347"/>
            <a:ext cx="446961" cy="446961"/>
          </a:xfrm>
          <a:prstGeom prst="roundRect">
            <a:avLst>
              <a:gd name="adj" fmla="val 102291"/>
            </a:avLst>
          </a:prstGeom>
          <a:solidFill>
            <a:srgbClr val="303132"/>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3055" y="4030027"/>
            <a:ext cx="223480" cy="223480"/>
          </a:xfrm>
          <a:prstGeom prst="rect">
            <a:avLst/>
          </a:prstGeom>
        </p:spPr>
      </p:pic>
      <p:sp>
        <p:nvSpPr>
          <p:cNvPr id="13" name="Text 8"/>
          <p:cNvSpPr/>
          <p:nvPr/>
        </p:nvSpPr>
        <p:spPr>
          <a:xfrm>
            <a:off x="6768227" y="3941683"/>
            <a:ext cx="1693188" cy="211574"/>
          </a:xfrm>
          <a:prstGeom prst="rect">
            <a:avLst/>
          </a:prstGeom>
          <a:noFill/>
          <a:ln/>
        </p:spPr>
        <p:txBody>
          <a:bodyPr wrap="none" lIns="0" tIns="0" rIns="0" bIns="0" rtlCol="0" anchor="t"/>
          <a:lstStyle/>
          <a:p>
            <a:pPr algn="l" indent="0" marL="0">
              <a:lnSpc>
                <a:spcPts val="1650"/>
              </a:lnSpc>
              <a:buNone/>
            </a:pPr>
            <a:r>
              <a:rPr lang="en-US" sz="1300" b="1" dirty="0">
                <a:solidFill>
                  <a:srgbClr val="E2E6E9"/>
                </a:solidFill>
                <a:latin typeface="Montserrat Bold" pitchFamily="34" charset="0"/>
                <a:ea typeface="Montserrat Bold" pitchFamily="34" charset="-122"/>
                <a:cs typeface="Montserrat Bold" pitchFamily="34" charset="-120"/>
              </a:rPr>
              <a:t>Install OS</a:t>
            </a:r>
            <a:endParaRPr lang="en-US" sz="1300" dirty="0"/>
          </a:p>
        </p:txBody>
      </p:sp>
      <p:sp>
        <p:nvSpPr>
          <p:cNvPr id="14" name="Text 9"/>
          <p:cNvSpPr/>
          <p:nvPr/>
        </p:nvSpPr>
        <p:spPr>
          <a:xfrm>
            <a:off x="6768227" y="4207192"/>
            <a:ext cx="7340679" cy="179189"/>
          </a:xfrm>
          <a:prstGeom prst="rect">
            <a:avLst/>
          </a:prstGeom>
          <a:noFill/>
          <a:ln/>
        </p:spPr>
        <p:txBody>
          <a:bodyPr wrap="none" lIns="0" tIns="0" rIns="0" bIns="0" rtlCol="0" anchor="t"/>
          <a:lstStyle/>
          <a:p>
            <a:pPr algn="l" indent="0" marL="0">
              <a:lnSpc>
                <a:spcPts val="1400"/>
              </a:lnSpc>
              <a:buNone/>
            </a:pPr>
            <a:r>
              <a:rPr lang="en-US" sz="1150" dirty="0">
                <a:solidFill>
                  <a:srgbClr val="E2E6E9"/>
                </a:solidFill>
                <a:latin typeface="Source Sans 3" pitchFamily="34" charset="0"/>
                <a:ea typeface="Source Sans 3" pitchFamily="34" charset="-122"/>
                <a:cs typeface="Source Sans 3" pitchFamily="34" charset="-120"/>
              </a:rPr>
              <a:t>Download Raspberry Pi Imager, flash Raspberry Pi OS onto your microSD card, and boot up your device.</a:t>
            </a:r>
            <a:endParaRPr lang="en-US" sz="1150" dirty="0"/>
          </a:p>
        </p:txBody>
      </p:sp>
      <p:sp>
        <p:nvSpPr>
          <p:cNvPr id="15" name="Shape 10"/>
          <p:cNvSpPr/>
          <p:nvPr/>
        </p:nvSpPr>
        <p:spPr>
          <a:xfrm>
            <a:off x="6603802" y="5000149"/>
            <a:ext cx="148947" cy="698183"/>
          </a:xfrm>
          <a:prstGeom prst="roundRect">
            <a:avLst>
              <a:gd name="adj" fmla="val 15006"/>
            </a:avLst>
          </a:prstGeom>
          <a:solidFill>
            <a:srgbClr val="303132"/>
          </a:solidFill>
          <a:ln/>
        </p:spPr>
      </p:sp>
      <p:sp>
        <p:nvSpPr>
          <p:cNvPr id="16" name="Shape 11"/>
          <p:cNvSpPr/>
          <p:nvPr/>
        </p:nvSpPr>
        <p:spPr>
          <a:xfrm>
            <a:off x="6454854" y="4902279"/>
            <a:ext cx="446961" cy="446961"/>
          </a:xfrm>
          <a:prstGeom prst="roundRect">
            <a:avLst>
              <a:gd name="adj" fmla="val 102291"/>
            </a:avLst>
          </a:prstGeom>
          <a:solidFill>
            <a:srgbClr val="303132"/>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66535" y="5013960"/>
            <a:ext cx="223480" cy="223480"/>
          </a:xfrm>
          <a:prstGeom prst="rect">
            <a:avLst/>
          </a:prstGeom>
        </p:spPr>
      </p:pic>
      <p:sp>
        <p:nvSpPr>
          <p:cNvPr id="18" name="Text 12"/>
          <p:cNvSpPr/>
          <p:nvPr/>
        </p:nvSpPr>
        <p:spPr>
          <a:xfrm>
            <a:off x="6991707" y="4925616"/>
            <a:ext cx="1693188" cy="211574"/>
          </a:xfrm>
          <a:prstGeom prst="rect">
            <a:avLst/>
          </a:prstGeom>
          <a:noFill/>
          <a:ln/>
        </p:spPr>
        <p:txBody>
          <a:bodyPr wrap="none" lIns="0" tIns="0" rIns="0" bIns="0" rtlCol="0" anchor="t"/>
          <a:lstStyle/>
          <a:p>
            <a:pPr algn="l" indent="0" marL="0">
              <a:lnSpc>
                <a:spcPts val="1650"/>
              </a:lnSpc>
              <a:buNone/>
            </a:pPr>
            <a:r>
              <a:rPr lang="en-US" sz="1300" b="1" dirty="0">
                <a:solidFill>
                  <a:srgbClr val="E2E6E9"/>
                </a:solidFill>
                <a:latin typeface="Montserrat Bold" pitchFamily="34" charset="0"/>
                <a:ea typeface="Montserrat Bold" pitchFamily="34" charset="-122"/>
                <a:cs typeface="Montserrat Bold" pitchFamily="34" charset="-120"/>
              </a:rPr>
              <a:t>Learn Basics</a:t>
            </a:r>
            <a:endParaRPr lang="en-US" sz="1300" dirty="0"/>
          </a:p>
        </p:txBody>
      </p:sp>
      <p:sp>
        <p:nvSpPr>
          <p:cNvPr id="19" name="Text 13"/>
          <p:cNvSpPr/>
          <p:nvPr/>
        </p:nvSpPr>
        <p:spPr>
          <a:xfrm>
            <a:off x="6991707" y="5191125"/>
            <a:ext cx="7117199" cy="358378"/>
          </a:xfrm>
          <a:prstGeom prst="rect">
            <a:avLst/>
          </a:prstGeom>
          <a:noFill/>
          <a:ln/>
        </p:spPr>
        <p:txBody>
          <a:bodyPr wrap="square" lIns="0" tIns="0" rIns="0" bIns="0" rtlCol="0" anchor="t"/>
          <a:lstStyle/>
          <a:p>
            <a:pPr algn="l" indent="0" marL="0">
              <a:lnSpc>
                <a:spcPts val="1400"/>
              </a:lnSpc>
              <a:buNone/>
            </a:pPr>
            <a:r>
              <a:rPr lang="en-US" sz="1150" dirty="0">
                <a:solidFill>
                  <a:srgbClr val="E2E6E9"/>
                </a:solidFill>
                <a:latin typeface="Source Sans 3" pitchFamily="34" charset="0"/>
                <a:ea typeface="Source Sans 3" pitchFamily="34" charset="-122"/>
                <a:cs typeface="Source Sans 3" pitchFamily="34" charset="-120"/>
              </a:rPr>
              <a:t>Explore Python programming, Linux commands, and GPIO pin control through official tutorials and beginner projects.</a:t>
            </a:r>
            <a:endParaRPr lang="en-US" sz="1150" dirty="0"/>
          </a:p>
        </p:txBody>
      </p:sp>
      <p:sp>
        <p:nvSpPr>
          <p:cNvPr id="20" name="Shape 14"/>
          <p:cNvSpPr/>
          <p:nvPr/>
        </p:nvSpPr>
        <p:spPr>
          <a:xfrm>
            <a:off x="6827282" y="6011823"/>
            <a:ext cx="148947" cy="698183"/>
          </a:xfrm>
          <a:prstGeom prst="roundRect">
            <a:avLst>
              <a:gd name="adj" fmla="val 15006"/>
            </a:avLst>
          </a:prstGeom>
          <a:solidFill>
            <a:srgbClr val="303132"/>
          </a:solidFill>
          <a:ln/>
        </p:spPr>
      </p:sp>
      <p:sp>
        <p:nvSpPr>
          <p:cNvPr id="21" name="Shape 15"/>
          <p:cNvSpPr/>
          <p:nvPr/>
        </p:nvSpPr>
        <p:spPr>
          <a:xfrm>
            <a:off x="6678335" y="5913953"/>
            <a:ext cx="446961" cy="446961"/>
          </a:xfrm>
          <a:prstGeom prst="roundRect">
            <a:avLst>
              <a:gd name="adj" fmla="val 102291"/>
            </a:avLst>
          </a:prstGeom>
          <a:solidFill>
            <a:srgbClr val="303132"/>
          </a:solidFill>
          <a:ln/>
        </p:spPr>
      </p:sp>
      <p:pic>
        <p:nvPicPr>
          <p:cNvPr id="2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90015" y="6025634"/>
            <a:ext cx="223480" cy="223480"/>
          </a:xfrm>
          <a:prstGeom prst="rect">
            <a:avLst/>
          </a:prstGeom>
        </p:spPr>
      </p:pic>
      <p:sp>
        <p:nvSpPr>
          <p:cNvPr id="23" name="Text 16"/>
          <p:cNvSpPr/>
          <p:nvPr/>
        </p:nvSpPr>
        <p:spPr>
          <a:xfrm>
            <a:off x="7215188" y="5937290"/>
            <a:ext cx="1693188" cy="211574"/>
          </a:xfrm>
          <a:prstGeom prst="rect">
            <a:avLst/>
          </a:prstGeom>
          <a:noFill/>
          <a:ln/>
        </p:spPr>
        <p:txBody>
          <a:bodyPr wrap="none" lIns="0" tIns="0" rIns="0" bIns="0" rtlCol="0" anchor="t"/>
          <a:lstStyle/>
          <a:p>
            <a:pPr algn="l" indent="0" marL="0">
              <a:lnSpc>
                <a:spcPts val="1650"/>
              </a:lnSpc>
              <a:buNone/>
            </a:pPr>
            <a:r>
              <a:rPr lang="en-US" sz="1300" b="1" dirty="0">
                <a:solidFill>
                  <a:srgbClr val="E2E6E9"/>
                </a:solidFill>
                <a:latin typeface="Montserrat Bold" pitchFamily="34" charset="0"/>
                <a:ea typeface="Montserrat Bold" pitchFamily="34" charset="-122"/>
                <a:cs typeface="Montserrat Bold" pitchFamily="34" charset="-120"/>
              </a:rPr>
              <a:t>Build Projects</a:t>
            </a:r>
            <a:endParaRPr lang="en-US" sz="1300" dirty="0"/>
          </a:p>
        </p:txBody>
      </p:sp>
      <p:sp>
        <p:nvSpPr>
          <p:cNvPr id="24" name="Text 17"/>
          <p:cNvSpPr/>
          <p:nvPr/>
        </p:nvSpPr>
        <p:spPr>
          <a:xfrm>
            <a:off x="7215188" y="6202799"/>
            <a:ext cx="6893719" cy="358378"/>
          </a:xfrm>
          <a:prstGeom prst="rect">
            <a:avLst/>
          </a:prstGeom>
          <a:noFill/>
          <a:ln/>
        </p:spPr>
        <p:txBody>
          <a:bodyPr wrap="square" lIns="0" tIns="0" rIns="0" bIns="0" rtlCol="0" anchor="t"/>
          <a:lstStyle/>
          <a:p>
            <a:pPr algn="l" indent="0" marL="0">
              <a:lnSpc>
                <a:spcPts val="1400"/>
              </a:lnSpc>
              <a:buNone/>
            </a:pPr>
            <a:r>
              <a:rPr lang="en-US" sz="1150" dirty="0">
                <a:solidFill>
                  <a:srgbClr val="E2E6E9"/>
                </a:solidFill>
                <a:latin typeface="Source Sans 3" pitchFamily="34" charset="0"/>
                <a:ea typeface="Source Sans 3" pitchFamily="34" charset="-122"/>
                <a:cs typeface="Source Sans 3" pitchFamily="34" charset="-120"/>
              </a:rPr>
              <a:t>Start with simple LED blinking, move to sensors and displays, then tackle more complex multi-component projects.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36124" y="1725216"/>
            <a:ext cx="7844552" cy="1054894"/>
          </a:xfrm>
          <a:prstGeom prst="rect">
            <a:avLst/>
          </a:prstGeom>
          <a:noFill/>
          <a:ln/>
        </p:spPr>
        <p:txBody>
          <a:bodyPr wrap="square" lIns="0" tIns="0" rIns="0" bIns="0" rtlCol="0" anchor="t"/>
          <a:lstStyle/>
          <a:p>
            <a:pPr algn="l" indent="0" marL="0">
              <a:lnSpc>
                <a:spcPts val="4150"/>
              </a:lnSpc>
              <a:buNone/>
            </a:pPr>
            <a:r>
              <a:rPr lang="en-US" sz="3300" b="1" dirty="0">
                <a:solidFill>
                  <a:srgbClr val="FFFFFF"/>
                </a:solidFill>
                <a:latin typeface="Montserrat Bold" pitchFamily="34" charset="0"/>
                <a:ea typeface="Montserrat Bold" pitchFamily="34" charset="-122"/>
                <a:cs typeface="Montserrat Bold" pitchFamily="34" charset="-120"/>
              </a:rPr>
              <a:t>The Future of Pi: Innovations and Community Impact</a:t>
            </a:r>
            <a:endParaRPr lang="en-US" sz="3300" dirty="0"/>
          </a:p>
        </p:txBody>
      </p:sp>
      <p:sp>
        <p:nvSpPr>
          <p:cNvPr id="4" name="Text 1"/>
          <p:cNvSpPr/>
          <p:nvPr/>
        </p:nvSpPr>
        <p:spPr>
          <a:xfrm>
            <a:off x="6136124" y="3082171"/>
            <a:ext cx="2498527" cy="612577"/>
          </a:xfrm>
          <a:prstGeom prst="rect">
            <a:avLst/>
          </a:prstGeom>
          <a:noFill/>
          <a:ln/>
        </p:spPr>
        <p:txBody>
          <a:bodyPr wrap="none" lIns="0" tIns="0" rIns="0" bIns="0" rtlCol="0" anchor="t"/>
          <a:lstStyle/>
          <a:p>
            <a:pPr algn="ctr" indent="0" marL="0">
              <a:lnSpc>
                <a:spcPts val="4800"/>
              </a:lnSpc>
              <a:buNone/>
            </a:pPr>
            <a:r>
              <a:rPr lang="en-US" sz="4800" b="1" dirty="0">
                <a:solidFill>
                  <a:srgbClr val="E2E6E9"/>
                </a:solidFill>
                <a:latin typeface="Montserrat Bold" pitchFamily="34" charset="0"/>
                <a:ea typeface="Montserrat Bold" pitchFamily="34" charset="-122"/>
                <a:cs typeface="Montserrat Bold" pitchFamily="34" charset="-120"/>
              </a:rPr>
              <a:t>40M+</a:t>
            </a:r>
            <a:endParaRPr lang="en-US" sz="4800" dirty="0"/>
          </a:p>
        </p:txBody>
      </p:sp>
      <p:sp>
        <p:nvSpPr>
          <p:cNvPr id="5" name="Text 2"/>
          <p:cNvSpPr/>
          <p:nvPr/>
        </p:nvSpPr>
        <p:spPr>
          <a:xfrm>
            <a:off x="6330672" y="3892153"/>
            <a:ext cx="2109430" cy="263723"/>
          </a:xfrm>
          <a:prstGeom prst="rect">
            <a:avLst/>
          </a:prstGeom>
          <a:noFill/>
          <a:ln/>
        </p:spPr>
        <p:txBody>
          <a:bodyPr wrap="none" lIns="0" tIns="0" rIns="0" bIns="0" rtlCol="0" anchor="t"/>
          <a:lstStyle/>
          <a:p>
            <a:pPr algn="ctr" indent="0" marL="0">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Units Sold</a:t>
            </a:r>
            <a:endParaRPr lang="en-US" sz="1650" dirty="0"/>
          </a:p>
        </p:txBody>
      </p:sp>
      <p:sp>
        <p:nvSpPr>
          <p:cNvPr id="6" name="Text 3"/>
          <p:cNvSpPr/>
          <p:nvPr/>
        </p:nvSpPr>
        <p:spPr>
          <a:xfrm>
            <a:off x="6136124" y="4239578"/>
            <a:ext cx="2498527" cy="487680"/>
          </a:xfrm>
          <a:prstGeom prst="rect">
            <a:avLst/>
          </a:prstGeom>
          <a:noFill/>
          <a:ln/>
        </p:spPr>
        <p:txBody>
          <a:bodyPr wrap="square" lIns="0" tIns="0" rIns="0" bIns="0" rtlCol="0" anchor="t"/>
          <a:lstStyle/>
          <a:p>
            <a:pPr algn="ctr" indent="0" marL="0">
              <a:lnSpc>
                <a:spcPts val="1900"/>
              </a:lnSpc>
              <a:buNone/>
            </a:pPr>
            <a:r>
              <a:rPr lang="en-US" sz="1450" dirty="0">
                <a:solidFill>
                  <a:srgbClr val="E2E6E9"/>
                </a:solidFill>
                <a:latin typeface="Source Sans 3" pitchFamily="34" charset="0"/>
                <a:ea typeface="Source Sans 3" pitchFamily="34" charset="-122"/>
                <a:cs typeface="Source Sans 3" pitchFamily="34" charset="-120"/>
              </a:rPr>
              <a:t>Over 40 million Raspberry Pis shipped worldwide since 2012</a:t>
            </a:r>
            <a:endParaRPr lang="en-US" sz="1450" dirty="0"/>
          </a:p>
        </p:txBody>
      </p:sp>
      <p:sp>
        <p:nvSpPr>
          <p:cNvPr id="7" name="Text 4"/>
          <p:cNvSpPr/>
          <p:nvPr/>
        </p:nvSpPr>
        <p:spPr>
          <a:xfrm>
            <a:off x="8809077" y="3082171"/>
            <a:ext cx="2498527" cy="612577"/>
          </a:xfrm>
          <a:prstGeom prst="rect">
            <a:avLst/>
          </a:prstGeom>
          <a:noFill/>
          <a:ln/>
        </p:spPr>
        <p:txBody>
          <a:bodyPr wrap="none" lIns="0" tIns="0" rIns="0" bIns="0" rtlCol="0" anchor="t"/>
          <a:lstStyle/>
          <a:p>
            <a:pPr algn="ctr" indent="0" marL="0">
              <a:lnSpc>
                <a:spcPts val="4800"/>
              </a:lnSpc>
              <a:buNone/>
            </a:pPr>
            <a:r>
              <a:rPr lang="en-US" sz="4800" b="1" dirty="0">
                <a:solidFill>
                  <a:srgbClr val="E2E6E9"/>
                </a:solidFill>
                <a:latin typeface="Montserrat Bold" pitchFamily="34" charset="0"/>
                <a:ea typeface="Montserrat Bold" pitchFamily="34" charset="-122"/>
                <a:cs typeface="Montserrat Bold" pitchFamily="34" charset="-120"/>
              </a:rPr>
              <a:t>200+</a:t>
            </a:r>
            <a:endParaRPr lang="en-US" sz="4800" dirty="0"/>
          </a:p>
        </p:txBody>
      </p:sp>
      <p:sp>
        <p:nvSpPr>
          <p:cNvPr id="8" name="Text 5"/>
          <p:cNvSpPr/>
          <p:nvPr/>
        </p:nvSpPr>
        <p:spPr>
          <a:xfrm>
            <a:off x="9003625" y="3892153"/>
            <a:ext cx="2109430" cy="263723"/>
          </a:xfrm>
          <a:prstGeom prst="rect">
            <a:avLst/>
          </a:prstGeom>
          <a:noFill/>
          <a:ln/>
        </p:spPr>
        <p:txBody>
          <a:bodyPr wrap="none" lIns="0" tIns="0" rIns="0" bIns="0" rtlCol="0" anchor="t"/>
          <a:lstStyle/>
          <a:p>
            <a:pPr algn="ctr" indent="0" marL="0">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Projects</a:t>
            </a:r>
            <a:endParaRPr lang="en-US" sz="1650" dirty="0"/>
          </a:p>
        </p:txBody>
      </p:sp>
      <p:sp>
        <p:nvSpPr>
          <p:cNvPr id="9" name="Text 6"/>
          <p:cNvSpPr/>
          <p:nvPr/>
        </p:nvSpPr>
        <p:spPr>
          <a:xfrm>
            <a:off x="8809077" y="4239578"/>
            <a:ext cx="2498527" cy="487680"/>
          </a:xfrm>
          <a:prstGeom prst="rect">
            <a:avLst/>
          </a:prstGeom>
          <a:noFill/>
          <a:ln/>
        </p:spPr>
        <p:txBody>
          <a:bodyPr wrap="square" lIns="0" tIns="0" rIns="0" bIns="0" rtlCol="0" anchor="t"/>
          <a:lstStyle/>
          <a:p>
            <a:pPr algn="ctr" indent="0" marL="0">
              <a:lnSpc>
                <a:spcPts val="1900"/>
              </a:lnSpc>
              <a:buNone/>
            </a:pPr>
            <a:r>
              <a:rPr lang="en-US" sz="1450" dirty="0">
                <a:solidFill>
                  <a:srgbClr val="E2E6E9"/>
                </a:solidFill>
                <a:latin typeface="Source Sans 3" pitchFamily="34" charset="0"/>
                <a:ea typeface="Source Sans 3" pitchFamily="34" charset="-122"/>
                <a:cs typeface="Source Sans 3" pitchFamily="34" charset="-120"/>
              </a:rPr>
              <a:t>Official tutorials and community projects available online</a:t>
            </a:r>
            <a:endParaRPr lang="en-US" sz="1450" dirty="0"/>
          </a:p>
        </p:txBody>
      </p:sp>
      <p:sp>
        <p:nvSpPr>
          <p:cNvPr id="10" name="Text 7"/>
          <p:cNvSpPr/>
          <p:nvPr/>
        </p:nvSpPr>
        <p:spPr>
          <a:xfrm>
            <a:off x="11482030" y="3082171"/>
            <a:ext cx="2498527" cy="612577"/>
          </a:xfrm>
          <a:prstGeom prst="rect">
            <a:avLst/>
          </a:prstGeom>
          <a:noFill/>
          <a:ln/>
        </p:spPr>
        <p:txBody>
          <a:bodyPr wrap="none" lIns="0" tIns="0" rIns="0" bIns="0" rtlCol="0" anchor="t"/>
          <a:lstStyle/>
          <a:p>
            <a:pPr algn="ctr" indent="0" marL="0">
              <a:lnSpc>
                <a:spcPts val="4800"/>
              </a:lnSpc>
              <a:buNone/>
            </a:pPr>
            <a:r>
              <a:rPr lang="en-US" sz="4800" b="1" dirty="0">
                <a:solidFill>
                  <a:srgbClr val="E2E6E9"/>
                </a:solidFill>
                <a:latin typeface="Montserrat Bold" pitchFamily="34" charset="0"/>
                <a:ea typeface="Montserrat Bold" pitchFamily="34" charset="-122"/>
                <a:cs typeface="Montserrat Bold" pitchFamily="34" charset="-120"/>
              </a:rPr>
              <a:t>100%</a:t>
            </a:r>
            <a:endParaRPr lang="en-US" sz="4800" dirty="0"/>
          </a:p>
        </p:txBody>
      </p:sp>
      <p:sp>
        <p:nvSpPr>
          <p:cNvPr id="11" name="Text 8"/>
          <p:cNvSpPr/>
          <p:nvPr/>
        </p:nvSpPr>
        <p:spPr>
          <a:xfrm>
            <a:off x="11676578" y="3892153"/>
            <a:ext cx="2109430" cy="263723"/>
          </a:xfrm>
          <a:prstGeom prst="rect">
            <a:avLst/>
          </a:prstGeom>
          <a:noFill/>
          <a:ln/>
        </p:spPr>
        <p:txBody>
          <a:bodyPr wrap="none" lIns="0" tIns="0" rIns="0" bIns="0" rtlCol="0" anchor="t"/>
          <a:lstStyle/>
          <a:p>
            <a:pPr algn="ctr" indent="0" marL="0">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Open Source</a:t>
            </a:r>
            <a:endParaRPr lang="en-US" sz="1650" dirty="0"/>
          </a:p>
        </p:txBody>
      </p:sp>
      <p:sp>
        <p:nvSpPr>
          <p:cNvPr id="12" name="Text 9"/>
          <p:cNvSpPr/>
          <p:nvPr/>
        </p:nvSpPr>
        <p:spPr>
          <a:xfrm>
            <a:off x="11482030" y="4239578"/>
            <a:ext cx="2498527" cy="487680"/>
          </a:xfrm>
          <a:prstGeom prst="rect">
            <a:avLst/>
          </a:prstGeom>
          <a:noFill/>
          <a:ln/>
        </p:spPr>
        <p:txBody>
          <a:bodyPr wrap="square" lIns="0" tIns="0" rIns="0" bIns="0" rtlCol="0" anchor="t"/>
          <a:lstStyle/>
          <a:p>
            <a:pPr algn="ctr" indent="0" marL="0">
              <a:lnSpc>
                <a:spcPts val="1900"/>
              </a:lnSpc>
              <a:buNone/>
            </a:pPr>
            <a:r>
              <a:rPr lang="en-US" sz="1450" dirty="0">
                <a:solidFill>
                  <a:srgbClr val="E2E6E9"/>
                </a:solidFill>
                <a:latin typeface="Source Sans 3" pitchFamily="34" charset="0"/>
                <a:ea typeface="Source Sans 3" pitchFamily="34" charset="-122"/>
                <a:cs typeface="Source Sans 3" pitchFamily="34" charset="-120"/>
              </a:rPr>
              <a:t>Software, documentation, and community support are free</a:t>
            </a:r>
            <a:endParaRPr lang="en-US" sz="1450" dirty="0"/>
          </a:p>
        </p:txBody>
      </p:sp>
      <p:sp>
        <p:nvSpPr>
          <p:cNvPr id="13" name="Text 10"/>
          <p:cNvSpPr/>
          <p:nvPr/>
        </p:nvSpPr>
        <p:spPr>
          <a:xfrm>
            <a:off x="6136124" y="4884301"/>
            <a:ext cx="7844552" cy="731520"/>
          </a:xfrm>
          <a:prstGeom prst="rect">
            <a:avLst/>
          </a:prstGeom>
          <a:noFill/>
          <a:ln/>
        </p:spPr>
        <p:txBody>
          <a:bodyPr wrap="square" lIns="0" tIns="0" rIns="0" bIns="0" rtlCol="0" anchor="t"/>
          <a:lstStyle/>
          <a:p>
            <a:pPr algn="l" indent="0" marL="0">
              <a:lnSpc>
                <a:spcPts val="1900"/>
              </a:lnSpc>
              <a:buNone/>
            </a:pPr>
            <a:r>
              <a:rPr lang="en-US" sz="1450" dirty="0">
                <a:solidFill>
                  <a:srgbClr val="E2E6E9"/>
                </a:solidFill>
                <a:latin typeface="Source Sans 3" pitchFamily="34" charset="0"/>
                <a:ea typeface="Source Sans 3" pitchFamily="34" charset="-122"/>
                <a:cs typeface="Source Sans 3" pitchFamily="34" charset="-120"/>
              </a:rPr>
              <a:t>The Raspberry Pi Foundation continues to innovate with new models like the Pi 5, while maintaining backward compatibility. The community-driven ecosystem grows daily, with users sharing projects, tutorials, and modifications online.</a:t>
            </a:r>
            <a:endParaRPr lang="en-US" sz="1450" dirty="0"/>
          </a:p>
        </p:txBody>
      </p:sp>
      <p:sp>
        <p:nvSpPr>
          <p:cNvPr id="14" name="Text 11"/>
          <p:cNvSpPr/>
          <p:nvPr/>
        </p:nvSpPr>
        <p:spPr>
          <a:xfrm>
            <a:off x="6136124" y="5772864"/>
            <a:ext cx="7844552" cy="731520"/>
          </a:xfrm>
          <a:prstGeom prst="rect">
            <a:avLst/>
          </a:prstGeom>
          <a:noFill/>
          <a:ln/>
        </p:spPr>
        <p:txBody>
          <a:bodyPr wrap="square" lIns="0" tIns="0" rIns="0" bIns="0" rtlCol="0" anchor="t"/>
          <a:lstStyle/>
          <a:p>
            <a:pPr algn="l" indent="0" marL="0">
              <a:lnSpc>
                <a:spcPts val="1900"/>
              </a:lnSpc>
              <a:buNone/>
            </a:pPr>
            <a:r>
              <a:rPr lang="en-US" sz="1450" dirty="0">
                <a:solidFill>
                  <a:srgbClr val="E2E6E9"/>
                </a:solidFill>
                <a:latin typeface="Source Sans 3" pitchFamily="34" charset="0"/>
                <a:ea typeface="Source Sans 3" pitchFamily="34" charset="-122"/>
                <a:cs typeface="Source Sans 3" pitchFamily="34" charset="-120"/>
              </a:rPr>
              <a:t>From classrooms to research labs, the Raspberry Pi is democratizing access to computing power, enabling anyone to learn, create, and innovate regardless of budget or location. The future promises even more powerful hardware, better software support, and expanded educational initiatives.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2026-03-30T10:58:14Z</dcterms:created>
  <dcterms:modified xsi:type="dcterms:W3CDTF">2026-03-30T10:58:14Z</dcterms:modified>
</cp:coreProperties>
</file>